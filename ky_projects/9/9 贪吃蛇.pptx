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72" r:id="rId3"/>
    <p:sldId id="271" r:id="rId4"/>
    <p:sldId id="274" r:id="rId5"/>
    <p:sldId id="358" r:id="rId6"/>
    <p:sldId id="325" r:id="rId7"/>
    <p:sldId id="340" r:id="rId8"/>
    <p:sldId id="336" r:id="rId9"/>
    <p:sldId id="364" r:id="rId10"/>
    <p:sldId id="352" r:id="rId11"/>
    <p:sldId id="366" r:id="rId12"/>
    <p:sldId id="365" r:id="rId13"/>
    <p:sldId id="359" r:id="rId14"/>
    <p:sldId id="282" r:id="rId15"/>
    <p:sldId id="355" r:id="rId16"/>
    <p:sldId id="367" r:id="rId17"/>
    <p:sldId id="368" r:id="rId18"/>
    <p:sldId id="369" r:id="rId19"/>
    <p:sldId id="370" r:id="rId20"/>
    <p:sldId id="360" r:id="rId21"/>
    <p:sldId id="371" r:id="rId22"/>
    <p:sldId id="308" r:id="rId23"/>
    <p:sldId id="31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618" autoAdjust="0"/>
  </p:normalViewPr>
  <p:slideViewPr>
    <p:cSldViewPr snapToGrid="0">
      <p:cViewPr>
        <p:scale>
          <a:sx n="80" d="100"/>
          <a:sy n="80" d="100"/>
        </p:scale>
        <p:origin x="60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76C35-8B36-41DC-A3CB-0254F770D658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AFD10-7AB2-4090-BE92-B4D8924B7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39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3D1A5-B906-46A8-AF55-1490A06F410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580390" y="593090"/>
            <a:ext cx="11030585" cy="56718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>
            <a:off x="11412220" y="4224655"/>
            <a:ext cx="382270" cy="145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5856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0163"/>
            <a:ext cx="9144000" cy="1931230"/>
          </a:xfrm>
        </p:spPr>
        <p:txBody>
          <a:bodyPr/>
          <a:lstStyle/>
          <a:p>
            <a:r>
              <a:rPr lang="zh-CN" altLang="en-US" dirty="0"/>
              <a:t>贪吃蛇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061438"/>
            <a:ext cx="9144000" cy="132336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童 晶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21"/>
          <a:stretch/>
        </p:blipFill>
        <p:spPr bwMode="auto">
          <a:xfrm>
            <a:off x="0" y="-1"/>
            <a:ext cx="12192000" cy="91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EEE1460-83DF-6ECC-48DA-E9CD1A080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748" y="22494"/>
            <a:ext cx="2532283" cy="64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4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A6024-FE7A-C447-B8A5-D5C2092F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154C26-8BF7-5E6F-C745-3DFFA02D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1506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1422400"/>
            <a:ext cx="10915650" cy="53213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200" dirty="0"/>
              <a:t>9.1 </a:t>
            </a:r>
            <a:r>
              <a:rPr lang="zh-CN" altLang="en-US" sz="3200" dirty="0"/>
              <a:t>蛇的构造与显示</a:t>
            </a:r>
            <a:endParaRPr lang="en-US" altLang="zh-CN" sz="3200" dirty="0"/>
          </a:p>
          <a:p>
            <a:r>
              <a:rPr lang="en-US" altLang="zh-CN" sz="3200" dirty="0"/>
              <a:t>9.2 </a:t>
            </a:r>
            <a:r>
              <a:rPr lang="zh-CN" altLang="en-US" sz="3200" dirty="0"/>
              <a:t>小蛇向右移动</a:t>
            </a:r>
            <a:endParaRPr lang="en-US" altLang="zh-CN" sz="3200" dirty="0"/>
          </a:p>
          <a:p>
            <a:r>
              <a:rPr lang="en-US" altLang="zh-CN" sz="3200" dirty="0"/>
              <a:t>9.3 </a:t>
            </a:r>
            <a:r>
              <a:rPr lang="zh-CN" altLang="en-US" sz="3200" dirty="0"/>
              <a:t>小蛇向</a:t>
            </a:r>
            <a:r>
              <a:rPr lang="en-US" altLang="zh-CN" sz="3200" dirty="0"/>
              <a:t>4</a:t>
            </a:r>
            <a:r>
              <a:rPr lang="zh-CN" altLang="en-US" sz="3200" dirty="0"/>
              <a:t>个方向移动</a:t>
            </a:r>
            <a:endParaRPr lang="en-US" altLang="zh-CN" sz="3200" dirty="0"/>
          </a:p>
          <a:p>
            <a:r>
              <a:rPr lang="en-US" altLang="zh-CN" sz="3200" dirty="0"/>
              <a:t>9.4 </a:t>
            </a:r>
            <a:r>
              <a:rPr lang="zh-CN" altLang="en-US" sz="3200" dirty="0"/>
              <a:t>玩家控制小蛇移动</a:t>
            </a:r>
            <a:endParaRPr lang="en-US" altLang="zh-CN" sz="3200" dirty="0"/>
          </a:p>
          <a:p>
            <a:r>
              <a:rPr lang="en-US" altLang="zh-CN" sz="3200" dirty="0"/>
              <a:t>9.5 </a:t>
            </a:r>
            <a:r>
              <a:rPr lang="zh-CN" altLang="en-US" sz="3200" dirty="0"/>
              <a:t>游戏失败的判断</a:t>
            </a:r>
            <a:endParaRPr lang="en-US" altLang="zh-CN" sz="3200" dirty="0"/>
          </a:p>
          <a:p>
            <a:r>
              <a:rPr lang="en-US" altLang="zh-CN" sz="3200" dirty="0"/>
              <a:t>9.6 </a:t>
            </a:r>
            <a:r>
              <a:rPr lang="zh-CN" altLang="en-US" sz="3200" dirty="0"/>
              <a:t>食物的随机出现</a:t>
            </a:r>
            <a:endParaRPr lang="en-US" altLang="zh-CN" sz="3200" dirty="0"/>
          </a:p>
          <a:p>
            <a:r>
              <a:rPr lang="en-US" altLang="zh-CN" sz="3200" dirty="0"/>
              <a:t>9.7</a:t>
            </a:r>
            <a:r>
              <a:rPr lang="zh-CN" altLang="en-US" sz="3200" dirty="0"/>
              <a:t> 吃食物增加长度</a:t>
            </a:r>
            <a:endParaRPr lang="en-US" altLang="zh-CN" sz="3200" dirty="0"/>
          </a:p>
          <a:p>
            <a:r>
              <a:rPr lang="en-US" altLang="zh-CN" sz="3200" dirty="0"/>
              <a:t>9.8 </a:t>
            </a:r>
            <a:r>
              <a:rPr lang="zh-CN" altLang="en-US" sz="3200" dirty="0"/>
              <a:t>得分的记录与显示</a:t>
            </a:r>
            <a:endParaRPr lang="en-US" altLang="zh-CN" sz="3200" dirty="0"/>
          </a:p>
          <a:p>
            <a:r>
              <a:rPr lang="en-US" altLang="zh-CN" sz="3200" dirty="0"/>
              <a:t>9.9</a:t>
            </a:r>
            <a:r>
              <a:rPr lang="zh-CN" altLang="en-US" sz="3200" dirty="0"/>
              <a:t> 函数的定义与使用</a:t>
            </a:r>
            <a:endParaRPr lang="en-US" altLang="zh-CN" sz="3200" dirty="0"/>
          </a:p>
          <a:p>
            <a:r>
              <a:rPr lang="en-US" altLang="zh-CN" sz="3200" dirty="0"/>
              <a:t>9.10 </a:t>
            </a:r>
            <a:r>
              <a:rPr lang="zh-CN" altLang="en-US" sz="3200" dirty="0"/>
              <a:t>时间控制的改进</a:t>
            </a:r>
            <a:endParaRPr lang="en-US" altLang="zh-CN" sz="3200" dirty="0"/>
          </a:p>
          <a:p>
            <a:r>
              <a:rPr lang="en-US" altLang="zh-CN" sz="3200" dirty="0"/>
              <a:t>9.11 </a:t>
            </a:r>
            <a:r>
              <a:rPr lang="zh-CN" altLang="en-US" sz="3200" dirty="0"/>
              <a:t>小结</a:t>
            </a:r>
            <a:endParaRPr lang="en-US" altLang="zh-CN" sz="32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 </a:t>
            </a:r>
            <a:r>
              <a:rPr lang="zh-CN" altLang="en-US" dirty="0"/>
              <a:t>贪吃蛇</a:t>
            </a:r>
          </a:p>
        </p:txBody>
      </p:sp>
      <p:pic>
        <p:nvPicPr>
          <p:cNvPr id="5" name="贪吃蛇">
            <a:hlinkClick r:id="" action="ppaction://media"/>
            <a:extLst>
              <a:ext uri="{FF2B5EF4-FFF2-40B4-BE49-F238E27FC236}">
                <a16:creationId xmlns:a16="http://schemas.microsoft.com/office/drawing/2014/main" id="{43965AAE-6ABD-421F-8BC4-BC2DD06ACD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5276" y="1711489"/>
            <a:ext cx="5177524" cy="406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93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5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9.1 </a:t>
            </a:r>
            <a:r>
              <a:rPr lang="zh-CN" altLang="en-US" dirty="0"/>
              <a:t>键盘控制游戏角色移动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1B14B-BC7F-4A7B-8635-06351CE6EC4E}"/>
              </a:ext>
            </a:extLst>
          </p:cNvPr>
          <p:cNvSpPr/>
          <p:nvPr/>
        </p:nvSpPr>
        <p:spPr>
          <a:xfrm>
            <a:off x="775467" y="1282272"/>
            <a:ext cx="5248262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利用之前章节所学知识，我们首先构造一条颜色为红色、总长度为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个小方块的小蛇，如下图所示。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60E829-6F77-4E73-A977-753A3625E95B}"/>
              </a:ext>
            </a:extLst>
          </p:cNvPr>
          <p:cNvSpPr/>
          <p:nvPr/>
        </p:nvSpPr>
        <p:spPr>
          <a:xfrm>
            <a:off x="6538386" y="1282272"/>
            <a:ext cx="5248262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完整代码如下所示。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2A0D2-C167-4C91-A03A-5466330A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191" y="3069153"/>
            <a:ext cx="3372813" cy="26674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AE6A0F-66A2-4A39-AAE7-FEC68CEF0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998" y="1865380"/>
            <a:ext cx="3251020" cy="21469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197CFBF-4E79-4FD3-803F-13792F241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233" y="4012280"/>
            <a:ext cx="4472016" cy="239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0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9.2 </a:t>
            </a:r>
            <a:r>
              <a:rPr lang="zh-CN" altLang="en-US" dirty="0"/>
              <a:t>小蛇</a:t>
            </a:r>
            <a:r>
              <a:rPr lang="zh-CN" altLang="en-US" b="1" dirty="0">
                <a:solidFill>
                  <a:srgbClr val="FF0000"/>
                </a:solidFill>
              </a:rPr>
              <a:t>向右</a:t>
            </a:r>
            <a:r>
              <a:rPr lang="zh-CN" altLang="en-US" dirty="0"/>
              <a:t>移动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60E829-6F77-4E73-A977-753A3625E95B}"/>
              </a:ext>
            </a:extLst>
          </p:cNvPr>
          <p:cNvSpPr/>
          <p:nvPr/>
        </p:nvSpPr>
        <p:spPr>
          <a:xfrm>
            <a:off x="7049229" y="1391040"/>
            <a:ext cx="4788816" cy="5015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为了能在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函数中让小蛇自动向右移动，首先要在旧蛇头的右边添加一个新蛇头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newSnakeHead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，应用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Snake.insert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(0, 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newSnakeHead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函数将新蛇头添加到列表的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号元素的位置。这时蛇的长度增加了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，再应用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delSnake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(Snake)-1]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命令把之前旧蛇尾删除，即实现了小蛇逐步向右移动。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93652C-23A6-45FB-B938-7B6CC2342D5A}"/>
              </a:ext>
            </a:extLst>
          </p:cNvPr>
          <p:cNvSpPr/>
          <p:nvPr/>
        </p:nvSpPr>
        <p:spPr>
          <a:xfrm>
            <a:off x="247514" y="1257300"/>
            <a:ext cx="6671761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列表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Snake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中存储了小蛇所有方块图片的信息，由代码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9-1.py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中添加到列表的顺序可知，列表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号元素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Snake[0]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存储的是蛇头的信息，如下图所示。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A7270D-0FDC-4E09-85D7-1D0558277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55" y="2948404"/>
            <a:ext cx="6458878" cy="169110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06E4D5-F927-4C4B-9290-6846DE2169D9}"/>
              </a:ext>
            </a:extLst>
          </p:cNvPr>
          <p:cNvSpPr/>
          <p:nvPr/>
        </p:nvSpPr>
        <p:spPr>
          <a:xfrm>
            <a:off x="172825" y="4527173"/>
            <a:ext cx="6671761" cy="2245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4.2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节中学习的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函数可以得到列表的长度，即列表的元素数量。目前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(Snake) = 5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Snake[4]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存储了最后一个添加到列表中的方块图片，也就是蛇尾的信息。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6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9.2 </a:t>
            </a:r>
            <a:r>
              <a:rPr lang="zh-CN" altLang="en-US" dirty="0"/>
              <a:t>小蛇向右移动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A44F37-0B9B-43F1-80FE-E2F53830628C}"/>
              </a:ext>
            </a:extLst>
          </p:cNvPr>
          <p:cNvSpPr/>
          <p:nvPr/>
        </p:nvSpPr>
        <p:spPr>
          <a:xfrm>
            <a:off x="6096001" y="1242035"/>
            <a:ext cx="5257800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insert()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函数可以将新元素插入列表中的任何位置，其中第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个参数表示新元素插入后的元素下标：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4D1380-A457-4A0F-9D98-5589B534462C}"/>
              </a:ext>
            </a:extLst>
          </p:cNvPr>
          <p:cNvSpPr/>
          <p:nvPr/>
        </p:nvSpPr>
        <p:spPr>
          <a:xfrm>
            <a:off x="523875" y="1257300"/>
            <a:ext cx="495876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添加代码：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D78238-556F-46B2-842F-2823F61A7100}"/>
              </a:ext>
            </a:extLst>
          </p:cNvPr>
          <p:cNvSpPr/>
          <p:nvPr/>
        </p:nvSpPr>
        <p:spPr>
          <a:xfrm>
            <a:off x="6096000" y="4989699"/>
            <a:ext cx="495876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运行后输出如下结果。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9005BE-570A-409E-A4E0-71E7EFD6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857556"/>
            <a:ext cx="4958760" cy="22148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7349BB5-8007-46C0-85DF-412DA7F72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573" y="2964989"/>
            <a:ext cx="1732655" cy="18148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685550-EFA0-4D2D-8182-55332C710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391" y="5615965"/>
            <a:ext cx="2719977" cy="69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0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9.2 </a:t>
            </a:r>
            <a:r>
              <a:rPr lang="zh-CN" altLang="en-US" dirty="0"/>
              <a:t>小蛇向右移动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D950C81-8CFC-463E-9D86-BC0A4F0A0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14" y="1436389"/>
            <a:ext cx="5037706" cy="193998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练习</a:t>
            </a:r>
            <a:r>
              <a:rPr lang="en-US" altLang="zh-CN" sz="2400" dirty="0"/>
              <a:t>9-1</a:t>
            </a:r>
            <a:r>
              <a:rPr sz="2400" dirty="0"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假设列表</a:t>
            </a:r>
            <a:r>
              <a:rPr lang="en-US" altLang="zh-CN" sz="2400" dirty="0">
                <a:sym typeface="+mn-ea"/>
              </a:rPr>
              <a:t>X = [1,3,4,8,10]</a:t>
            </a:r>
            <a:r>
              <a:rPr lang="zh-CN" altLang="en-US" sz="2400" dirty="0">
                <a:sym typeface="+mn-ea"/>
              </a:rPr>
              <a:t>，元素按从小到大排列。用户任意输入一个数字，将输入数字插入列表</a:t>
            </a:r>
            <a:r>
              <a:rPr lang="en-US" altLang="zh-CN" sz="2400" dirty="0">
                <a:sym typeface="+mn-ea"/>
              </a:rPr>
              <a:t>X</a:t>
            </a:r>
            <a:r>
              <a:rPr lang="zh-CN" altLang="en-US" sz="2400" dirty="0">
                <a:sym typeface="+mn-ea"/>
              </a:rPr>
              <a:t>中，使得新列表元素仍然从小到大排列。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组示例输入输出如下。</a:t>
            </a:r>
            <a:endParaRPr lang="en-US" altLang="zh-CN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4F0136-D176-44DF-A0E7-1583414922A0}"/>
              </a:ext>
            </a:extLst>
          </p:cNvPr>
          <p:cNvSpPr/>
          <p:nvPr/>
        </p:nvSpPr>
        <p:spPr>
          <a:xfrm>
            <a:off x="6096000" y="1257300"/>
            <a:ext cx="5257800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将代码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9-2-1.py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运行后小蛇会向右移动，但目前移动速度过快。为了解决这一问题，可以导入时间库：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9AA461-97AF-40F3-A629-771143338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90" y="3440694"/>
            <a:ext cx="3924153" cy="217543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1CAB145-9F40-4644-A4E4-006DC22F845C}"/>
              </a:ext>
            </a:extLst>
          </p:cNvPr>
          <p:cNvSpPr/>
          <p:nvPr/>
        </p:nvSpPr>
        <p:spPr>
          <a:xfrm>
            <a:off x="6096000" y="3376373"/>
            <a:ext cx="525780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函数末尾添加一行代码：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20004B-9175-47F2-8120-D5DC85087BAD}"/>
              </a:ext>
            </a:extLst>
          </p:cNvPr>
          <p:cNvSpPr/>
          <p:nvPr/>
        </p:nvSpPr>
        <p:spPr>
          <a:xfrm>
            <a:off x="6096000" y="4528412"/>
            <a:ext cx="5461262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函数每运行一次会暂停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0.2s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，这样小蛇移动的速度就慢了很多。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BC5E7FF-A343-4A4B-957D-B3808521D61D}"/>
              </a:ext>
            </a:extLst>
          </p:cNvPr>
          <p:cNvSpPr txBox="1"/>
          <p:nvPr/>
        </p:nvSpPr>
        <p:spPr>
          <a:xfrm>
            <a:off x="7217445" y="6060176"/>
            <a:ext cx="349734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完整代码可参考</a:t>
            </a:r>
            <a:r>
              <a:rPr lang="en-US" altLang="zh-CN" sz="2400" dirty="0"/>
              <a:t>9-2-3</a:t>
            </a:r>
            <a:r>
              <a:rPr lang="zh-CN" altLang="en-US" sz="2400" dirty="0"/>
              <a:t>.p</a:t>
            </a:r>
            <a:r>
              <a:rPr lang="en-US" altLang="zh-CN" sz="2400" dirty="0"/>
              <a:t>y</a:t>
            </a:r>
            <a:endParaRPr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574C578-813C-48FE-B0D3-D4698187F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45" y="2970463"/>
            <a:ext cx="2809875" cy="5143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01D7F1A-4179-4E75-A356-022182626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177" y="3912782"/>
            <a:ext cx="2960409" cy="60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58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9.3 </a:t>
            </a:r>
            <a:r>
              <a:rPr lang="zh-CN" altLang="en-US" dirty="0"/>
              <a:t>小蛇向</a:t>
            </a:r>
            <a:r>
              <a:rPr lang="en-US" altLang="zh-CN" dirty="0"/>
              <a:t>4</a:t>
            </a:r>
            <a:r>
              <a:rPr lang="zh-CN" altLang="en-US" dirty="0"/>
              <a:t>个方向移动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1B14B-BC7F-4A7B-8635-06351CE6EC4E}"/>
              </a:ext>
            </a:extLst>
          </p:cNvPr>
          <p:cNvSpPr/>
          <p:nvPr/>
        </p:nvSpPr>
        <p:spPr>
          <a:xfrm>
            <a:off x="353827" y="1171574"/>
            <a:ext cx="5396524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小蛇向下移动，只需把新蛇头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newSnakeHead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的坐标设在旧蛇头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Snake[0]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的下方即可，如下图所示。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B98FBB-4C6C-438A-A22C-B973E6C65237}"/>
              </a:ext>
            </a:extLst>
          </p:cNvPr>
          <p:cNvSpPr/>
          <p:nvPr/>
        </p:nvSpPr>
        <p:spPr>
          <a:xfrm>
            <a:off x="419815" y="4055677"/>
            <a:ext cx="2192366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添加代码如下：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F1921C-3ABA-4561-8D55-9025CB3A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15" y="2963041"/>
            <a:ext cx="5264548" cy="12669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2E2CE84-55CF-4C24-BC98-50FEB7BDB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85" y="4733367"/>
            <a:ext cx="4270008" cy="205033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1821B2D-662B-4418-A122-5C86F663D58F}"/>
              </a:ext>
            </a:extLst>
          </p:cNvPr>
          <p:cNvSpPr/>
          <p:nvPr/>
        </p:nvSpPr>
        <p:spPr>
          <a:xfrm>
            <a:off x="6208238" y="1171574"/>
            <a:ext cx="5424340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进一步，可以设定字符串变量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direction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表示小蛇运动方向，其值取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‘right’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向右运动、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‘left’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向左运动、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‘up’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向上运动、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‘down’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向下运动。只需修改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direction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的值，即可控制小蛇向不同的方向移动。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6E2A49-4DF4-4B15-9094-0AB326FE2C34}"/>
              </a:ext>
            </a:extLst>
          </p:cNvPr>
          <p:cNvSpPr txBox="1"/>
          <p:nvPr/>
        </p:nvSpPr>
        <p:spPr>
          <a:xfrm>
            <a:off x="7302287" y="5455593"/>
            <a:ext cx="501317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完整代码可参考</a:t>
            </a:r>
            <a:r>
              <a:rPr lang="en-US" altLang="zh-CN" sz="2400" dirty="0"/>
              <a:t>P129    </a:t>
            </a:r>
            <a:r>
              <a:rPr lang="en-US" altLang="zh-CN" sz="2400" b="1" dirty="0">
                <a:solidFill>
                  <a:srgbClr val="FF0000"/>
                </a:solidFill>
              </a:rPr>
              <a:t>9-3-2</a:t>
            </a:r>
            <a:r>
              <a:rPr lang="zh-CN" altLang="en-US" sz="2400" b="1" dirty="0">
                <a:solidFill>
                  <a:srgbClr val="FF0000"/>
                </a:solidFill>
              </a:rPr>
              <a:t>.p</a:t>
            </a:r>
            <a:r>
              <a:rPr lang="en-US" altLang="zh-CN" sz="2400" b="1" dirty="0">
                <a:solidFill>
                  <a:srgbClr val="FF0000"/>
                </a:solidFill>
              </a:rPr>
              <a:t>y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3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9.4 </a:t>
            </a:r>
            <a:r>
              <a:rPr lang="zh-CN" altLang="en-US" dirty="0"/>
              <a:t>玩家控制小蛇移动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1B14B-BC7F-4A7B-8635-06351CE6EC4E}"/>
              </a:ext>
            </a:extLst>
          </p:cNvPr>
          <p:cNvSpPr/>
          <p:nvPr/>
        </p:nvSpPr>
        <p:spPr>
          <a:xfrm>
            <a:off x="97148" y="883286"/>
            <a:ext cx="11411229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参考代码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8-1-1.py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函数中实现用户按上、下、左、右方向键，设定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direction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变量取不同的值，即可实现玩家键盘控制小蛇向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个方向移动：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A557E3-B76A-4892-82CD-FA78A4104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45" y="2817953"/>
            <a:ext cx="4547353" cy="3119515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1AEDF12-224B-4B69-BB7E-25DE1E69D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471" y="2033455"/>
            <a:ext cx="4952381" cy="475238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A13C881-DD52-382E-9C9D-97F91DDF0F68}"/>
              </a:ext>
            </a:extLst>
          </p:cNvPr>
          <p:cNvSpPr/>
          <p:nvPr/>
        </p:nvSpPr>
        <p:spPr>
          <a:xfrm>
            <a:off x="7395134" y="2205906"/>
            <a:ext cx="3084371" cy="147575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A3396D6-6FF2-D994-CBC1-2186B458E0B0}"/>
              </a:ext>
            </a:extLst>
          </p:cNvPr>
          <p:cNvCxnSpPr/>
          <p:nvPr/>
        </p:nvCxnSpPr>
        <p:spPr>
          <a:xfrm flipV="1">
            <a:off x="5548498" y="2817953"/>
            <a:ext cx="1694513" cy="1994679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0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9.5 </a:t>
            </a:r>
            <a:r>
              <a:rPr lang="zh-CN" altLang="en-US" dirty="0"/>
              <a:t>游戏失败的判断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1B14B-BC7F-4A7B-8635-06351CE6EC4E}"/>
              </a:ext>
            </a:extLst>
          </p:cNvPr>
          <p:cNvSpPr/>
          <p:nvPr/>
        </p:nvSpPr>
        <p:spPr>
          <a:xfrm>
            <a:off x="405353" y="1134614"/>
            <a:ext cx="5275504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另外，当蛇头与蛇自身发生碰撞时，我们也认为游戏失败：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B98FBB-4C6C-438A-A22C-B973E6C65237}"/>
              </a:ext>
            </a:extLst>
          </p:cNvPr>
          <p:cNvSpPr/>
          <p:nvPr/>
        </p:nvSpPr>
        <p:spPr>
          <a:xfrm>
            <a:off x="405353" y="3320609"/>
            <a:ext cx="5275504" cy="2245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在循环语句中执行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，表示跳出当前循环。上面语句表示只要蛇头和一个蛇身坐标相同，就不需要再判断了，即可结束当前循环。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990329-7F49-49D9-9252-A6F01D006AA7}"/>
              </a:ext>
            </a:extLst>
          </p:cNvPr>
          <p:cNvSpPr/>
          <p:nvPr/>
        </p:nvSpPr>
        <p:spPr>
          <a:xfrm>
            <a:off x="6074398" y="1138539"/>
            <a:ext cx="3088456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输入并运行以下代码：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38642-33DE-42B4-9C68-67072C34678E}"/>
              </a:ext>
            </a:extLst>
          </p:cNvPr>
          <p:cNvSpPr/>
          <p:nvPr/>
        </p:nvSpPr>
        <p:spPr>
          <a:xfrm>
            <a:off x="9426298" y="1155057"/>
            <a:ext cx="4483653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输出如下结果：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A81D5F9-A336-4B32-BF11-F2453D477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52012"/>
            <a:ext cx="4943868" cy="114522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C3A73C7-B0FD-4C47-8AFB-97CED6336F77}"/>
              </a:ext>
            </a:extLst>
          </p:cNvPr>
          <p:cNvSpPr txBox="1"/>
          <p:nvPr/>
        </p:nvSpPr>
        <p:spPr>
          <a:xfrm>
            <a:off x="1372827" y="5749361"/>
            <a:ext cx="349734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完整代码可参考</a:t>
            </a:r>
            <a:r>
              <a:rPr lang="en-US" altLang="zh-CN" sz="2400" b="1" dirty="0">
                <a:solidFill>
                  <a:srgbClr val="FF0000"/>
                </a:solidFill>
              </a:rPr>
              <a:t>9-5-1</a:t>
            </a:r>
            <a:r>
              <a:rPr lang="zh-CN" altLang="en-US" sz="2400" b="1" dirty="0">
                <a:solidFill>
                  <a:srgbClr val="FF0000"/>
                </a:solidFill>
              </a:rPr>
              <a:t>.p</a:t>
            </a:r>
            <a:r>
              <a:rPr lang="en-US" altLang="zh-CN" sz="2400" b="1" dirty="0">
                <a:solidFill>
                  <a:srgbClr val="FF0000"/>
                </a:solidFill>
              </a:rPr>
              <a:t>y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3A4783A-3005-4315-82BE-CD5EAB799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264" y="1807549"/>
            <a:ext cx="1586720" cy="122551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877ECC1-3633-48CA-A7ED-A721377FA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1641" y="1978932"/>
            <a:ext cx="390525" cy="85725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49EB085B-0A69-4AD0-9F07-77E456507D7C}"/>
              </a:ext>
            </a:extLst>
          </p:cNvPr>
          <p:cNvSpPr/>
          <p:nvPr/>
        </p:nvSpPr>
        <p:spPr>
          <a:xfrm>
            <a:off x="6022061" y="3071953"/>
            <a:ext cx="5712249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表示当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时，运行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break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语句，跳出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循环，因此仅输出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个数字。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C4D378-1382-42E8-B725-3CF32A81D93B}"/>
              </a:ext>
            </a:extLst>
          </p:cNvPr>
          <p:cNvSpPr/>
          <p:nvPr/>
        </p:nvSpPr>
        <p:spPr>
          <a:xfrm>
            <a:off x="5998396" y="4420697"/>
            <a:ext cx="3088456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输入并运行以下代码：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E40D2-80F3-421F-B3BF-ABAB0F4A4A8F}"/>
              </a:ext>
            </a:extLst>
          </p:cNvPr>
          <p:cNvSpPr/>
          <p:nvPr/>
        </p:nvSpPr>
        <p:spPr>
          <a:xfrm>
            <a:off x="9309067" y="4420697"/>
            <a:ext cx="2372412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输出如下结果：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C9BF5DD-DAFA-43EF-84B9-EB0F5E8C8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707" y="5070374"/>
            <a:ext cx="1707151" cy="1402303"/>
          </a:xfrm>
          <a:prstGeom prst="rect">
            <a:avLst/>
          </a:prstGeom>
        </p:spPr>
      </p:pic>
      <p:pic>
        <p:nvPicPr>
          <p:cNvPr id="2049" name="图片 2048">
            <a:extLst>
              <a:ext uri="{FF2B5EF4-FFF2-40B4-BE49-F238E27FC236}">
                <a16:creationId xmlns:a16="http://schemas.microsoft.com/office/drawing/2014/main" id="{BA2D11F6-F2F4-4697-B9EC-68F758B92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393" y="5221453"/>
            <a:ext cx="4762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7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9.5 </a:t>
            </a:r>
            <a:r>
              <a:rPr lang="zh-CN" altLang="en-US" dirty="0"/>
              <a:t>游戏失败的判断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D950C81-8CFC-463E-9D86-BC0A4F0A0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88" y="1540086"/>
            <a:ext cx="10652940" cy="78833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练习</a:t>
            </a:r>
            <a:r>
              <a:rPr lang="en-US" altLang="zh-CN" sz="2400" dirty="0"/>
              <a:t>9-2</a:t>
            </a:r>
            <a:r>
              <a:rPr sz="2400" dirty="0"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连续输入不多于</a:t>
            </a:r>
            <a:r>
              <a:rPr lang="en-US" altLang="zh-CN" sz="2400" dirty="0">
                <a:sym typeface="+mn-ea"/>
              </a:rPr>
              <a:t>100</a:t>
            </a:r>
            <a:r>
              <a:rPr lang="zh-CN" altLang="en-US" sz="2400" dirty="0">
                <a:sym typeface="+mn-ea"/>
              </a:rPr>
              <a:t>个数字，当输入数字为正数时，求出所有数字的和；当输入数字是负数时，输出结果，程序结束。示例输入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输出如下。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CF9109-11A9-4623-A93B-7BD5D9601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712" y="2328422"/>
            <a:ext cx="3524250" cy="1247775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30E1E55-4DDC-4B6A-BAB4-DC200597D0FC}"/>
              </a:ext>
            </a:extLst>
          </p:cNvPr>
          <p:cNvSpPr txBox="1">
            <a:spLocks/>
          </p:cNvSpPr>
          <p:nvPr/>
        </p:nvSpPr>
        <p:spPr>
          <a:xfrm>
            <a:off x="3275602" y="3887241"/>
            <a:ext cx="5326470" cy="788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练习</a:t>
            </a:r>
            <a:r>
              <a:rPr lang="en-US" altLang="zh-CN" sz="2400" dirty="0"/>
              <a:t>9-3</a:t>
            </a:r>
            <a:r>
              <a:rPr lang="zh-CN" altLang="en-US" sz="2400" dirty="0">
                <a:sym typeface="+mn-ea"/>
              </a:rPr>
              <a:t>：写出下面程序运行的结果。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E6F372B-B198-4345-89FB-946362C92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566" y="4594153"/>
            <a:ext cx="2902868" cy="144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9.6 </a:t>
            </a:r>
            <a:r>
              <a:rPr lang="zh-CN" altLang="en-US" dirty="0"/>
              <a:t>食物的随机出现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1B14B-BC7F-4A7B-8635-06351CE6EC4E}"/>
              </a:ext>
            </a:extLst>
          </p:cNvPr>
          <p:cNvSpPr/>
          <p:nvPr/>
        </p:nvSpPr>
        <p:spPr>
          <a:xfrm>
            <a:off x="405353" y="1406589"/>
            <a:ext cx="5275504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导入食物方块图片，并设置其</a:t>
            </a:r>
            <a:r>
              <a:rPr lang="en-US" altLang="zh-CN" sz="2400" i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i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坐标为随机值，在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函数中进行显示：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B98FBB-4C6C-438A-A22C-B973E6C65237}"/>
              </a:ext>
            </a:extLst>
          </p:cNvPr>
          <p:cNvSpPr/>
          <p:nvPr/>
        </p:nvSpPr>
        <p:spPr>
          <a:xfrm>
            <a:off x="6381946" y="1406589"/>
            <a:ext cx="5275504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效果如下图所示。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D64D73-DBF8-4A71-A6C6-039ED93C6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74" y="2762992"/>
            <a:ext cx="4743941" cy="17773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404B863-737F-4058-ADE6-24DB873A8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145" y="2061015"/>
            <a:ext cx="40005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77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9.7 </a:t>
            </a:r>
            <a:r>
              <a:rPr lang="zh-CN" altLang="en-US" dirty="0"/>
              <a:t>吃食物增加长度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1B14B-BC7F-4A7B-8635-06351CE6EC4E}"/>
              </a:ext>
            </a:extLst>
          </p:cNvPr>
          <p:cNvSpPr/>
          <p:nvPr/>
        </p:nvSpPr>
        <p:spPr>
          <a:xfrm>
            <a:off x="239154" y="1147039"/>
            <a:ext cx="6602348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当小蛇没有吃到食物，单纯向下移动时，为了保持小蛇长度，需要删除掉旧蛇尾，如下图所示。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B98FBB-4C6C-438A-A22C-B973E6C65237}"/>
              </a:ext>
            </a:extLst>
          </p:cNvPr>
          <p:cNvSpPr/>
          <p:nvPr/>
        </p:nvSpPr>
        <p:spPr>
          <a:xfrm>
            <a:off x="239155" y="3589873"/>
            <a:ext cx="6602347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而当小蛇小蛇向下移动碰到食物时，小蛇长度加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，则不删除旧蛇尾，如下图所示。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79DC16-F9FF-4A84-9C66-3AB7669E0A7E}"/>
              </a:ext>
            </a:extLst>
          </p:cNvPr>
          <p:cNvSpPr txBox="1"/>
          <p:nvPr/>
        </p:nvSpPr>
        <p:spPr>
          <a:xfrm>
            <a:off x="7794086" y="5126829"/>
            <a:ext cx="312215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完整代码可参看</a:t>
            </a:r>
            <a:r>
              <a:rPr lang="en-US" altLang="zh-CN" sz="2400" dirty="0"/>
              <a:t>9-7</a:t>
            </a:r>
            <a:r>
              <a:rPr lang="zh-CN" altLang="en-US" sz="2400" dirty="0"/>
              <a:t>.p</a:t>
            </a:r>
            <a:r>
              <a:rPr lang="en-US" altLang="zh-CN" sz="2400" dirty="0"/>
              <a:t>y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71DDC8-DF7E-48F2-B86D-479E38433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13" y="2318614"/>
            <a:ext cx="5396400" cy="1275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DD4F299-0789-411C-9970-12EA01C75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00" y="4865604"/>
            <a:ext cx="5396400" cy="1248066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531F345D-E587-46A7-929A-696352ADC8B3}"/>
              </a:ext>
            </a:extLst>
          </p:cNvPr>
          <p:cNvSpPr/>
          <p:nvPr/>
        </p:nvSpPr>
        <p:spPr>
          <a:xfrm>
            <a:off x="7193435" y="2111224"/>
            <a:ext cx="4463902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函数中更新如下代码：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AF43175-BA0F-41FC-B75C-6FBB9B24A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435" y="2905046"/>
            <a:ext cx="4759410" cy="161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13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9.8 </a:t>
            </a:r>
            <a:r>
              <a:rPr lang="zh-CN" altLang="en-US" dirty="0"/>
              <a:t>得分的记录与显示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9A1FED-A449-4404-B885-9AC9620DFB8A}"/>
              </a:ext>
            </a:extLst>
          </p:cNvPr>
          <p:cNvSpPr/>
          <p:nvPr/>
        </p:nvSpPr>
        <p:spPr>
          <a:xfrm>
            <a:off x="619512" y="1215360"/>
            <a:ext cx="5602179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参考代码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8-7.py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，增加代码进行得分的记录与显示：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DAF788-99B3-4389-9A91-FC25D4132395}"/>
              </a:ext>
            </a:extLst>
          </p:cNvPr>
          <p:cNvSpPr/>
          <p:nvPr/>
        </p:nvSpPr>
        <p:spPr>
          <a:xfrm>
            <a:off x="7094301" y="1215360"/>
            <a:ext cx="4755169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实现效果如下图所示。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04DBE3-11A6-4925-891B-D9B986332D00}"/>
              </a:ext>
            </a:extLst>
          </p:cNvPr>
          <p:cNvSpPr txBox="1"/>
          <p:nvPr/>
        </p:nvSpPr>
        <p:spPr>
          <a:xfrm>
            <a:off x="4616428" y="5728500"/>
            <a:ext cx="321052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完整代码参看</a:t>
            </a:r>
            <a:r>
              <a:rPr lang="en-US" altLang="zh-CN" sz="2400" dirty="0"/>
              <a:t>9-8</a:t>
            </a:r>
            <a:r>
              <a:rPr lang="zh-CN" altLang="en-US" sz="2400" dirty="0"/>
              <a:t>.p</a:t>
            </a:r>
            <a:r>
              <a:rPr lang="en-US" altLang="zh-CN" sz="2400" dirty="0"/>
              <a:t>y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180A8C-9653-4F7C-A093-D91EBB10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51" y="2597100"/>
            <a:ext cx="5602180" cy="19084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87410C-F1A4-4C00-94FE-6A9F3FD16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301" y="1939133"/>
            <a:ext cx="3539134" cy="280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7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9.9 </a:t>
            </a:r>
            <a:r>
              <a:rPr lang="zh-CN" altLang="en-US" dirty="0"/>
              <a:t>函数的定义与使用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9A1FED-A449-4404-B885-9AC9620DFB8A}"/>
              </a:ext>
            </a:extLst>
          </p:cNvPr>
          <p:cNvSpPr/>
          <p:nvPr/>
        </p:nvSpPr>
        <p:spPr>
          <a:xfrm>
            <a:off x="619511" y="1215360"/>
            <a:ext cx="5336053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在使用过的函数中，有一些是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提供的内建函数，如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int()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str()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input()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print()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等；有一些是游戏开发库提供的函数，如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on_mouse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_ down 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等。示例如下：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8F9D35-16F8-48B5-AC47-21D4D47102CE}"/>
              </a:ext>
            </a:extLst>
          </p:cNvPr>
          <p:cNvSpPr/>
          <p:nvPr/>
        </p:nvSpPr>
        <p:spPr>
          <a:xfrm>
            <a:off x="6236436" y="1237749"/>
            <a:ext cx="5336053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回顾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函数的定义，首先需要写一个关键字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，然后写上函数的名字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draw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，写上括号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及冒号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，最后写上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draw()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函数对应执行的语句。也可以定义自己的函数并调用执行：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169FB1-0A9F-438F-AADC-0248723593F4}"/>
              </a:ext>
            </a:extLst>
          </p:cNvPr>
          <p:cNvSpPr/>
          <p:nvPr/>
        </p:nvSpPr>
        <p:spPr>
          <a:xfrm>
            <a:off x="6236436" y="5822855"/>
            <a:ext cx="2219407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输出如下结果：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45C62C-6266-4E87-94E0-BB7FCC8A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07" y="4318925"/>
            <a:ext cx="4399225" cy="7264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15B497B-872C-4792-9516-BCED79E51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540" y="3988242"/>
            <a:ext cx="1940584" cy="18346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EFF9FEB-0B11-4F56-9F39-9CEE4BCD1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070" y="6010403"/>
            <a:ext cx="80962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12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9.9 </a:t>
            </a:r>
            <a:r>
              <a:rPr lang="zh-CN" altLang="en-US" dirty="0"/>
              <a:t>函数的定义与使用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8F9D35-16F8-48B5-AC47-21D4D47102CE}"/>
              </a:ext>
            </a:extLst>
          </p:cNvPr>
          <p:cNvSpPr/>
          <p:nvPr/>
        </p:nvSpPr>
        <p:spPr>
          <a:xfrm>
            <a:off x="420414" y="3067266"/>
            <a:ext cx="5675585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函数定义的括号内，还可以写上函数运行时接收的参数，如我们可以修改代码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9-9-1.py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，让用户设定要输出的加号的个数：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169FB1-0A9F-438F-AADC-0248723593F4}"/>
              </a:ext>
            </a:extLst>
          </p:cNvPr>
          <p:cNvSpPr/>
          <p:nvPr/>
        </p:nvSpPr>
        <p:spPr>
          <a:xfrm>
            <a:off x="6707776" y="1235812"/>
            <a:ext cx="4906047" cy="3353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num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为函数的参数，函数内部把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num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‘+’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添加到字符串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str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中。调用函数时，括号内写不同的数字，就可以输出对应数字个数的加号。程序运行后，分别输出如下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个加号。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16002A2-1474-4E45-B200-8AE715A0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14" y="1436389"/>
            <a:ext cx="5675586" cy="863751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练习</a:t>
            </a:r>
            <a:r>
              <a:rPr lang="en-US" altLang="zh-CN" sz="2400" dirty="0"/>
              <a:t>9-4</a:t>
            </a:r>
            <a:r>
              <a:rPr sz="2400" dirty="0"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调用代码</a:t>
            </a:r>
            <a:r>
              <a:rPr lang="en-US" altLang="zh-CN" sz="2400" dirty="0">
                <a:sym typeface="+mn-ea"/>
              </a:rPr>
              <a:t>9-9-1.py</a:t>
            </a:r>
            <a:r>
              <a:rPr lang="zh-CN" altLang="en-US" sz="2400" dirty="0">
                <a:sym typeface="+mn-ea"/>
              </a:rPr>
              <a:t>中定义的函数，输出如下效果。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168028-B35F-4B28-9001-E173A2E70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719" y="2196445"/>
            <a:ext cx="645981" cy="9968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2ADDE3-12B0-40C1-90BB-81F3857FA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749" y="4815651"/>
            <a:ext cx="2417288" cy="20144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CDD9DAF-7958-499F-89C4-CEB8A9A3D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986" y="4848208"/>
            <a:ext cx="15716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18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9.9 </a:t>
            </a:r>
            <a:r>
              <a:rPr lang="zh-CN" altLang="en-US" dirty="0"/>
              <a:t>函数的定义与使用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8F9D35-16F8-48B5-AC47-21D4D47102CE}"/>
              </a:ext>
            </a:extLst>
          </p:cNvPr>
          <p:cNvSpPr/>
          <p:nvPr/>
        </p:nvSpPr>
        <p:spPr>
          <a:xfrm>
            <a:off x="578178" y="1257300"/>
            <a:ext cx="5517822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函数也可以接受多个参数，参数间以逗号间隔：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169FB1-0A9F-438F-AADC-0248723593F4}"/>
              </a:ext>
            </a:extLst>
          </p:cNvPr>
          <p:cNvSpPr/>
          <p:nvPr/>
        </p:nvSpPr>
        <p:spPr>
          <a:xfrm>
            <a:off x="420097" y="4034819"/>
            <a:ext cx="5675903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以上函数接受两个参数：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为对应的字符，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num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为要输出的字符的个数。程序运行后，分别输出如下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'+'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'@'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'0'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25B6EC3-2567-4B26-9342-D66A8117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483" y="1904214"/>
            <a:ext cx="1879206" cy="21306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DE7003C-400D-41BE-A01C-2B6EA88A6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483" y="5894993"/>
            <a:ext cx="1524000" cy="742950"/>
          </a:xfrm>
          <a:prstGeom prst="rect">
            <a:avLst/>
          </a:prstGeom>
        </p:spPr>
      </p:pic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F0034ED-E81E-475A-AD89-0172F6BF1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414" y="4255003"/>
            <a:ext cx="5675586" cy="863751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练习</a:t>
            </a:r>
            <a:r>
              <a:rPr lang="en-US" altLang="zh-CN" sz="2400" dirty="0"/>
              <a:t>9-6</a:t>
            </a:r>
            <a:r>
              <a:rPr sz="2400" dirty="0"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定义函数，输入两个数字</a:t>
            </a:r>
            <a:r>
              <a:rPr lang="en-US" altLang="zh-CN" sz="2400" i="1" dirty="0">
                <a:sym typeface="+mn-ea"/>
              </a:rPr>
              <a:t>x</a:t>
            </a:r>
            <a:r>
              <a:rPr lang="zh-CN" altLang="en-US" sz="2400" dirty="0">
                <a:sym typeface="+mn-ea"/>
              </a:rPr>
              <a:t>、 </a:t>
            </a:r>
            <a:r>
              <a:rPr lang="en-US" altLang="zh-CN" sz="2400" i="1" dirty="0">
                <a:sym typeface="+mn-ea"/>
              </a:rPr>
              <a:t>y</a:t>
            </a:r>
            <a:r>
              <a:rPr lang="zh-CN" altLang="en-US" sz="2400" dirty="0">
                <a:sym typeface="+mn-ea"/>
              </a:rPr>
              <a:t>，输出两数中的最大值。</a:t>
            </a:r>
            <a:endParaRPr lang="en-US" altLang="zh-CN" sz="2400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D6CE2860-ED9D-4D39-9B44-4B4A5E9128CA}"/>
              </a:ext>
            </a:extLst>
          </p:cNvPr>
          <p:cNvSpPr txBox="1">
            <a:spLocks/>
          </p:cNvSpPr>
          <p:nvPr/>
        </p:nvSpPr>
        <p:spPr>
          <a:xfrm>
            <a:off x="6253764" y="1393977"/>
            <a:ext cx="5675586" cy="1209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练习</a:t>
            </a:r>
            <a:r>
              <a:rPr lang="en-US" altLang="zh-CN" sz="2400" dirty="0"/>
              <a:t>9-5</a:t>
            </a:r>
            <a:r>
              <a:rPr lang="zh-CN" altLang="en-US" sz="2400" dirty="0">
                <a:sym typeface="+mn-ea"/>
              </a:rPr>
              <a:t>：定义函数，输出行数为</a:t>
            </a:r>
            <a:r>
              <a:rPr lang="en-US" altLang="zh-CN" sz="2400" dirty="0">
                <a:sym typeface="+mn-ea"/>
              </a:rPr>
              <a:t>n</a:t>
            </a:r>
            <a:r>
              <a:rPr lang="zh-CN" altLang="en-US" sz="2400" dirty="0">
                <a:sym typeface="+mn-ea"/>
              </a:rPr>
              <a:t>、列数为</a:t>
            </a:r>
            <a:r>
              <a:rPr lang="en-US" altLang="zh-CN" sz="2400" dirty="0">
                <a:sym typeface="+mn-ea"/>
              </a:rPr>
              <a:t>m</a:t>
            </a:r>
            <a:r>
              <a:rPr lang="zh-CN" altLang="en-US" sz="2400" dirty="0">
                <a:sym typeface="+mn-ea"/>
              </a:rPr>
              <a:t>的字符</a:t>
            </a:r>
            <a:r>
              <a:rPr lang="en-US" altLang="zh-CN" sz="2400" dirty="0" err="1">
                <a:sym typeface="+mn-ea"/>
              </a:rPr>
              <a:t>ch</a:t>
            </a:r>
            <a:r>
              <a:rPr lang="zh-CN" altLang="en-US" sz="2400" dirty="0">
                <a:sym typeface="+mn-ea"/>
              </a:rPr>
              <a:t>组成的长方形字符阵列，示例输出如下。</a:t>
            </a:r>
            <a:endParaRPr lang="zh-CN" altLang="en-US" sz="2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1246ACF-7B29-4B45-9E4C-F8106596D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0792" y="2527070"/>
            <a:ext cx="914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09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9.9 </a:t>
            </a:r>
            <a:r>
              <a:rPr lang="zh-CN" altLang="en-US" dirty="0"/>
              <a:t>函数的定义与使用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8F9D35-16F8-48B5-AC47-21D4D47102CE}"/>
              </a:ext>
            </a:extLst>
          </p:cNvPr>
          <p:cNvSpPr/>
          <p:nvPr/>
        </p:nvSpPr>
        <p:spPr>
          <a:xfrm>
            <a:off x="578178" y="1257300"/>
            <a:ext cx="5517822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回顾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int()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函数的用法：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169FB1-0A9F-438F-AADC-0248723593F4}"/>
              </a:ext>
            </a:extLst>
          </p:cNvPr>
          <p:cNvSpPr/>
          <p:nvPr/>
        </p:nvSpPr>
        <p:spPr>
          <a:xfrm>
            <a:off x="523875" y="2563089"/>
            <a:ext cx="5675903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其将函数计算结果返回，并赋给变量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。同样，自定义的函数也可以定义返回值：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6E0F84-8F35-4168-BE23-0506C549F465}"/>
              </a:ext>
            </a:extLst>
          </p:cNvPr>
          <p:cNvSpPr/>
          <p:nvPr/>
        </p:nvSpPr>
        <p:spPr>
          <a:xfrm>
            <a:off x="6348953" y="1257300"/>
            <a:ext cx="5517822" cy="2245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调用函数时，可以将函数的返回值赋给其他变量。利用函数的返回值，也可以实现更复杂的功能，如以下代码可以求解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个数的最大值：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0DD7A8-E8DA-43FB-B7A5-4F1C171A8B5A}"/>
              </a:ext>
            </a:extLst>
          </p:cNvPr>
          <p:cNvSpPr/>
          <p:nvPr/>
        </p:nvSpPr>
        <p:spPr>
          <a:xfrm>
            <a:off x="6348953" y="5876840"/>
            <a:ext cx="5517822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输出如下结果：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0ACE15-8678-4C38-AEDF-0D8F4A0C8D3F}"/>
              </a:ext>
            </a:extLst>
          </p:cNvPr>
          <p:cNvSpPr/>
          <p:nvPr/>
        </p:nvSpPr>
        <p:spPr>
          <a:xfrm>
            <a:off x="578178" y="5769982"/>
            <a:ext cx="5675903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输出如下结果：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C83FEF-95D9-47C3-8DDB-CF6AF4015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09" y="1844873"/>
            <a:ext cx="1524000" cy="8667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0D8514C-41EE-4A2C-BE79-4FF2FA5CB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558" y="3686707"/>
            <a:ext cx="1649973" cy="204438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E1A342A-0616-4DED-9C4E-B777ECEAC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801" y="5876840"/>
            <a:ext cx="714375" cy="47625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2F87B6D-F9E4-4C30-9579-4E3B76B01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0461" y="3502402"/>
            <a:ext cx="1598042" cy="108584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616E6F9-1BCF-4D4C-8365-138FB0581F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4932" y="4482942"/>
            <a:ext cx="2311727" cy="111775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A81183A-6467-43BF-AD79-A1377A5A88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5157" y="6024773"/>
            <a:ext cx="6286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41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9.9 </a:t>
            </a:r>
            <a:r>
              <a:rPr lang="zh-CN" altLang="en-US" dirty="0"/>
              <a:t>函数的定义与使用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BD950C81-8CFC-463E-9D86-BC0A4F0A0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188" y="1540085"/>
            <a:ext cx="10652940" cy="1247775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练习</a:t>
            </a:r>
            <a:r>
              <a:rPr lang="en-US" altLang="zh-CN" sz="2400" dirty="0"/>
              <a:t>9-7</a:t>
            </a:r>
            <a:r>
              <a:rPr sz="2400" dirty="0"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身体质量指数（ </a:t>
            </a:r>
            <a:r>
              <a:rPr lang="en-US" altLang="zh-CN" sz="2400" dirty="0">
                <a:sym typeface="+mn-ea"/>
              </a:rPr>
              <a:t>BMI</a:t>
            </a:r>
            <a:r>
              <a:rPr lang="zh-CN" altLang="en-US" sz="2400" dirty="0">
                <a:sym typeface="+mn-ea"/>
              </a:rPr>
              <a:t>， </a:t>
            </a:r>
            <a:r>
              <a:rPr lang="en-US" altLang="zh-CN" sz="2400" dirty="0">
                <a:sym typeface="+mn-ea"/>
              </a:rPr>
              <a:t>Body Mass Index</a:t>
            </a:r>
            <a:r>
              <a:rPr lang="zh-CN" altLang="en-US" sz="2400" dirty="0">
                <a:sym typeface="+mn-ea"/>
              </a:rPr>
              <a:t>）是衡量人体肥胖程度的重要标准，读者可以搜索相应的计算方法与准则，尝试实现一个判断体重情况的函数。示例输入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输出如下。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6D39D1-14DF-4D3F-A4CE-3BFE2E0D0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4" y="2867694"/>
            <a:ext cx="27146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39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9.10 </a:t>
            </a:r>
            <a:r>
              <a:rPr lang="zh-CN" altLang="en-US" dirty="0"/>
              <a:t>时间控制的改进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9A1FED-A449-4404-B885-9AC9620DFB8A}"/>
              </a:ext>
            </a:extLst>
          </p:cNvPr>
          <p:cNvSpPr/>
          <p:nvPr/>
        </p:nvSpPr>
        <p:spPr>
          <a:xfrm>
            <a:off x="377073" y="1215360"/>
            <a:ext cx="5326144" cy="2799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在玩贪吃蛇时，玩家会感觉到明显的卡顿，明明按了方向键，小蛇却没有反应。为了改进这一问题，可以应用自定义函数，以及游戏开发库中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clock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模块的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schedule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功能：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040BFB-50F9-4975-AA5B-05E4A267E938}"/>
              </a:ext>
            </a:extLst>
          </p:cNvPr>
          <p:cNvSpPr/>
          <p:nvPr/>
        </p:nvSpPr>
        <p:spPr>
          <a:xfrm>
            <a:off x="5938837" y="1257300"/>
            <a:ext cx="5797534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将代码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9-8.py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调整为如下结构：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677334-38CE-4855-A06D-296685414A0E}"/>
              </a:ext>
            </a:extLst>
          </p:cNvPr>
          <p:cNvSpPr txBox="1"/>
          <p:nvPr/>
        </p:nvSpPr>
        <p:spPr>
          <a:xfrm>
            <a:off x="7276526" y="6310610"/>
            <a:ext cx="3300347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完整代码参看</a:t>
            </a:r>
            <a:r>
              <a:rPr lang="en-US" altLang="zh-CN" sz="2400" dirty="0"/>
              <a:t>9-10</a:t>
            </a:r>
            <a:r>
              <a:rPr lang="zh-CN" altLang="en-US" sz="2400" dirty="0"/>
              <a:t>-</a:t>
            </a:r>
            <a:r>
              <a:rPr lang="en-US" altLang="zh-CN" sz="2400" dirty="0"/>
              <a:t>2</a:t>
            </a:r>
            <a:r>
              <a:rPr lang="zh-CN" altLang="en-US" sz="2400" dirty="0"/>
              <a:t>.p</a:t>
            </a:r>
            <a:r>
              <a:rPr lang="en-US" altLang="zh-CN" sz="2400" dirty="0"/>
              <a:t>y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16AFA9-5B6A-4496-A2B2-04114E68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22" y="4014460"/>
            <a:ext cx="3941927" cy="24922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C467EC-ECA5-4162-B4C4-BE4E0F6C4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481" y="1840408"/>
            <a:ext cx="4245393" cy="217402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B6A20DA-3A58-4104-BCEF-C34E6B9407E2}"/>
              </a:ext>
            </a:extLst>
          </p:cNvPr>
          <p:cNvSpPr/>
          <p:nvPr/>
        </p:nvSpPr>
        <p:spPr>
          <a:xfrm>
            <a:off x="5864506" y="3973175"/>
            <a:ext cx="6022694" cy="2245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玩家输入模块在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update()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函数中，每帧都会实时运行，输入很顺畅；而移动蛇的模块在</a:t>
            </a:r>
            <a:r>
              <a:rPr lang="en-US" altLang="zh-CN" sz="24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moveSnake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函数中运行，每隔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0.2s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会调用自身运行一次，蛇的移动速度不会太快。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332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9.10 </a:t>
            </a:r>
            <a:r>
              <a:rPr lang="zh-CN" altLang="en-US" dirty="0"/>
              <a:t>时间控制的改进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1CA6702-61A5-4671-8914-63BDEF2F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9490" y="1634293"/>
            <a:ext cx="6985913" cy="78833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练习</a:t>
            </a:r>
            <a:r>
              <a:rPr lang="en-US" altLang="zh-CN" sz="2400" dirty="0"/>
              <a:t>9-8</a:t>
            </a:r>
            <a:r>
              <a:rPr sz="2400" dirty="0">
                <a:sym typeface="+mn-ea"/>
              </a:rPr>
              <a:t>：</a:t>
            </a:r>
            <a:r>
              <a:rPr lang="zh-CN" altLang="en-US" sz="2400" dirty="0">
                <a:sym typeface="+mn-ea"/>
              </a:rPr>
              <a:t>当用户按键后，输出程序运行的时间。</a:t>
            </a:r>
            <a:endParaRPr lang="en-US" altLang="zh-CN" sz="2400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A965BE2-B8C8-480B-9404-24C704AD5B0D}"/>
              </a:ext>
            </a:extLst>
          </p:cNvPr>
          <p:cNvSpPr txBox="1">
            <a:spLocks/>
          </p:cNvSpPr>
          <p:nvPr/>
        </p:nvSpPr>
        <p:spPr>
          <a:xfrm>
            <a:off x="2299490" y="2726256"/>
            <a:ext cx="7372412" cy="856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练习</a:t>
            </a:r>
            <a:r>
              <a:rPr lang="en-US" altLang="zh-CN" sz="2400" dirty="0"/>
              <a:t>9-9</a:t>
            </a:r>
            <a:r>
              <a:rPr lang="zh-CN" altLang="en-US" sz="2400" dirty="0">
                <a:sym typeface="+mn-ea"/>
              </a:rPr>
              <a:t>：实现游戏倒计时</a:t>
            </a:r>
            <a:r>
              <a:rPr lang="en-US" altLang="zh-CN" sz="2400" dirty="0">
                <a:sym typeface="+mn-ea"/>
              </a:rPr>
              <a:t>30s</a:t>
            </a:r>
            <a:r>
              <a:rPr lang="zh-CN" altLang="en-US" sz="2400" dirty="0">
                <a:sym typeface="+mn-ea"/>
              </a:rPr>
              <a:t>功能，如果倒计时结束，则输出时间到了，效果如下图所示。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0D9F8E-49A0-4EB1-A1F1-74A7794DB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762" y="3583143"/>
            <a:ext cx="38004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02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36"/>
          <a:stretch/>
        </p:blipFill>
        <p:spPr bwMode="auto">
          <a:xfrm>
            <a:off x="0" y="-1"/>
            <a:ext cx="12192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875" y="85725"/>
            <a:ext cx="10829925" cy="1085849"/>
          </a:xfrm>
        </p:spPr>
        <p:txBody>
          <a:bodyPr/>
          <a:lstStyle/>
          <a:p>
            <a:r>
              <a:rPr lang="en-US" altLang="zh-CN" dirty="0"/>
              <a:t>8.9 </a:t>
            </a:r>
            <a:r>
              <a:rPr lang="zh-CN" altLang="en-US" dirty="0"/>
              <a:t>小结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38150" y="1422400"/>
            <a:ext cx="10915650" cy="2987675"/>
          </a:xfrm>
        </p:spPr>
        <p:txBody>
          <a:bodyPr>
            <a:normAutofit/>
          </a:bodyPr>
          <a:lstStyle/>
          <a:p>
            <a:pPr algn="just"/>
            <a:r>
              <a:rPr lang="zh-CN" altLang="en-US" sz="3200" dirty="0"/>
              <a:t>课后复习：</a:t>
            </a:r>
            <a:r>
              <a:rPr lang="en-US" altLang="zh-CN" sz="3200" dirty="0"/>
              <a:t>time</a:t>
            </a:r>
            <a:r>
              <a:rPr lang="zh-CN" altLang="en-US" sz="3200" dirty="0"/>
              <a:t>模块的</a:t>
            </a:r>
            <a:r>
              <a:rPr lang="en-US" altLang="zh-CN" sz="3200" dirty="0"/>
              <a:t>sleep</a:t>
            </a:r>
            <a:r>
              <a:rPr lang="zh-CN" altLang="en-US" sz="3200" dirty="0"/>
              <a:t>函数、</a:t>
            </a:r>
            <a:r>
              <a:rPr lang="en-US" altLang="zh-CN" sz="3200" dirty="0"/>
              <a:t>clock</a:t>
            </a:r>
            <a:r>
              <a:rPr lang="zh-CN" altLang="en-US" sz="3200" dirty="0"/>
              <a:t>模块的</a:t>
            </a:r>
            <a:r>
              <a:rPr lang="en-US" altLang="zh-CN" sz="3200" dirty="0"/>
              <a:t>schedule</a:t>
            </a:r>
            <a:r>
              <a:rPr lang="zh-CN" altLang="en-US" sz="3200" dirty="0"/>
              <a:t>等功能、列表的插入函数、 </a:t>
            </a:r>
            <a:r>
              <a:rPr lang="en-US" altLang="zh-CN" sz="3200" dirty="0"/>
              <a:t>break</a:t>
            </a:r>
            <a:r>
              <a:rPr lang="zh-CN" altLang="en-US" sz="3200" dirty="0"/>
              <a:t>与</a:t>
            </a:r>
            <a:r>
              <a:rPr lang="en-US" altLang="zh-CN" sz="3200" dirty="0"/>
              <a:t>continue</a:t>
            </a:r>
            <a:r>
              <a:rPr lang="zh-CN" altLang="en-US" sz="3200" dirty="0"/>
              <a:t>语句、函数的定义与调用等</a:t>
            </a:r>
            <a:endParaRPr lang="en-US" altLang="zh-CN" sz="3200" dirty="0"/>
          </a:p>
          <a:p>
            <a:pPr algn="just"/>
            <a:r>
              <a:rPr lang="zh-CN" altLang="zh-CN" sz="3200" dirty="0"/>
              <a:t>实现</a:t>
            </a:r>
            <a:r>
              <a:rPr lang="zh-CN" altLang="en-US" sz="3200" dirty="0"/>
              <a:t>了贪吃蛇</a:t>
            </a:r>
            <a:r>
              <a:rPr lang="zh-CN" altLang="zh-CN" sz="3200" dirty="0"/>
              <a:t>的游戏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8963A3-249E-4DDF-A37E-4F6600A8F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98" y="2621437"/>
            <a:ext cx="41148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9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G:\FAQ_Main_Image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410" y="1831975"/>
            <a:ext cx="7155815" cy="354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2"/>
          <p:cNvSpPr txBox="1"/>
          <p:nvPr/>
        </p:nvSpPr>
        <p:spPr bwMode="auto">
          <a:xfrm>
            <a:off x="3175" y="650239"/>
            <a:ext cx="12192000" cy="1008112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800" dirty="0"/>
              <a:t>Any question?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>
                <a:outerShdw blurRad="50800" dist="38100" dir="2700000">
                  <a:schemeClr val="accent1">
                    <a:alpha val="43000"/>
                  </a:schemeClr>
                </a:outerShdw>
              </a:effectLst>
              <a:uLnTx/>
              <a:uFillTx/>
              <a:latin typeface="+mj-lt"/>
              <a:ea typeface="MS PGothic" panose="020B0600070205080204" pitchFamily="-108" charset="-128"/>
              <a:cs typeface="MS PGothic" panose="020B0600070205080204" pitchFamily="-108" charset="-128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5" y="5458727"/>
            <a:ext cx="12192000" cy="700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333399"/>
              </a:buClr>
              <a:buSzPct val="110000"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olidFill>
                  <a:srgbClr val="000000"/>
                </a:solidFill>
              </a:rPr>
              <a:t>教师邮箱：</a:t>
            </a:r>
            <a:r>
              <a:rPr lang="en-US" altLang="zh-CN" sz="3600" dirty="0">
                <a:solidFill>
                  <a:srgbClr val="000000"/>
                </a:solidFill>
              </a:rPr>
              <a:t>tongjing-cn@qq.com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9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2084</Words>
  <Application>Microsoft Office PowerPoint</Application>
  <PresentationFormat>寬螢幕</PresentationFormat>
  <Paragraphs>97</Paragraphs>
  <Slides>23</Slides>
  <Notes>1</Notes>
  <HiddenSlides>0</HiddenSlides>
  <MMClips>1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7" baseType="lpstr">
      <vt:lpstr>等线</vt:lpstr>
      <vt:lpstr>Arial</vt:lpstr>
      <vt:lpstr>Calibri</vt:lpstr>
      <vt:lpstr>Office 主题</vt:lpstr>
      <vt:lpstr>贪吃蛇</vt:lpstr>
      <vt:lpstr>PowerPoint 簡報</vt:lpstr>
      <vt:lpstr>9 贪吃蛇</vt:lpstr>
      <vt:lpstr>9.1 键盘控制游戏角色移动</vt:lpstr>
      <vt:lpstr>9.2 小蛇向右移动</vt:lpstr>
      <vt:lpstr>9.2 小蛇向右移动</vt:lpstr>
      <vt:lpstr>9.2 小蛇向右移动</vt:lpstr>
      <vt:lpstr>9.3 小蛇向4个方向移动</vt:lpstr>
      <vt:lpstr>9.4 玩家控制小蛇移动</vt:lpstr>
      <vt:lpstr>9.5 游戏失败的判断</vt:lpstr>
      <vt:lpstr>9.5 游戏失败的判断</vt:lpstr>
      <vt:lpstr>9.6 食物的随机出现</vt:lpstr>
      <vt:lpstr>9.7 吃食物增加长度</vt:lpstr>
      <vt:lpstr>9.8 得分的记录与显示</vt:lpstr>
      <vt:lpstr>9.9 函数的定义与使用</vt:lpstr>
      <vt:lpstr>9.9 函数的定义与使用</vt:lpstr>
      <vt:lpstr>9.9 函数的定义与使用</vt:lpstr>
      <vt:lpstr>9.9 函数的定义与使用</vt:lpstr>
      <vt:lpstr>9.9 函数的定义与使用</vt:lpstr>
      <vt:lpstr>9.10 时间控制的改进</vt:lpstr>
      <vt:lpstr>9.10 时间控制的改进</vt:lpstr>
      <vt:lpstr>8.9 小结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Python游戏趣味编程</dc:title>
  <dc:creator>Administrator</dc:creator>
  <cp:lastModifiedBy>左健翔</cp:lastModifiedBy>
  <cp:revision>334</cp:revision>
  <dcterms:created xsi:type="dcterms:W3CDTF">2020-02-12T07:53:34Z</dcterms:created>
  <dcterms:modified xsi:type="dcterms:W3CDTF">2026-03-12T06:46:06Z</dcterms:modified>
</cp:coreProperties>
</file>